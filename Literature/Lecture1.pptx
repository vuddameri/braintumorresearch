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637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353936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626911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201122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52478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63274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502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758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75968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241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161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857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0ECD8-7305-F76B-D75B-78E9E0FE7D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943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606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020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94B295-F3B0-06CC-829C-913944ABA6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629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868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034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EAF2F9-C0BB-294C-EEE5-EC2F334C2C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034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2982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143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C40DCF-EBF3-A337-2437-086BB45626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693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4035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289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B0D4DA-7FC0-D46D-53B8-8436A4BAF3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690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2915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43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006479-5C16-0326-1C4B-4E1B4642C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004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202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189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1EAFC8-F3A5-8573-67C5-DC34AE7C62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465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50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948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3E0134-C563-03B7-F2FF-E795ABEBCA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556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6500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9934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A09B5E-90FE-1150-5E26-3C4F935440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752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743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442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114CEB-EDF7-CDE2-10B5-847A520A5B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371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4523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24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4F0071-520B-F1C1-0123-051DF6657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769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871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745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D28EF8-44E9-8A9E-D351-3B3A8B0B13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280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3793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05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6EC30-79D2-28FB-C6E0-CCF4FCAE0B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443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3438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679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5DD764-3AB4-33F7-3DED-441C2B1BD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63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145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615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343BC6-7CBE-8174-5D51-6F9052052E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734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5052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3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A9DFDF-615F-5F9C-3C4D-900C414D11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389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265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09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4C9BAC-9694-233C-E9C5-ADC8FE1A2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298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4563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3754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F497CE-27F8-1198-86F7-928EB5CE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04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982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815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D0C0E2-C53D-56F0-06E3-E870ED7955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68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95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857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BA4BC2-B506-026E-C8D5-4AD33980FF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061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638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522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93FE4D-C863-80C7-93FE-DA29AC9CD1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957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3210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3158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3A581-6D67-018D-81D4-BCF921496D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307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818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757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DC92AA-BB9C-8FF5-B146-E938599D50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674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214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17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D024A-1D54-DF45-D255-DF0C35BAD6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581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813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10BE82-F7DE-CAFD-6BCC-6F93F0962F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30370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1416873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98868486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83082498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28259558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79422596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6257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252006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246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913370282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6788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95372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429120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73379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945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90287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231785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987909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26812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15844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7042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8133247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111523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00750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74122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1182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706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35555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109692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0146003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450451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40075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5774308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7383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9960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58734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3777863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847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7247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750680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6884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306187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7772863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812641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08989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991314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7600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68948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4077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7307345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69694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822386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1965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963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617826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36075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572760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83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3327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871282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69463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17755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862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24636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8258943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2546829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9522850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22811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231819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513049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36491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105380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/>
              <a:t>Picking the Brain with Ameya</a:t>
            </a:r>
            <a:endParaRPr lang="en-US"/>
          </a:p>
        </p:txBody>
      </p:sp>
      <p:pic>
        <p:nvPicPr>
          <p:cNvPr id="1864730759" name=""/>
          <p:cNvPicPr>
            <a:picLocks noChangeAspect="1"/>
          </p:cNvPicPr>
          <p:nvPr/>
        </p:nvPicPr>
        <p:blipFill>
          <a:blip r:embed="rId3"/>
          <a:srcRect l="38118" t="57743" r="37962" b="1893"/>
          <a:stretch/>
        </p:blipFill>
        <p:spPr bwMode="auto">
          <a:xfrm flipH="0" flipV="0">
            <a:off x="395137" y="1388192"/>
            <a:ext cx="5700862" cy="5430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2375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Work So Far</a:t>
            </a:r>
            <a:endParaRPr/>
          </a:p>
        </p:txBody>
      </p:sp>
      <p:sp>
        <p:nvSpPr>
          <p:cNvPr id="81167309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Intro to Machine learning AI</a:t>
            </a:r>
            <a:endParaRPr/>
          </a:p>
          <a:p>
            <a:pPr>
              <a:defRPr/>
            </a:pPr>
            <a:r>
              <a:rPr/>
              <a:t>How does MRI work</a:t>
            </a:r>
            <a:endParaRPr/>
          </a:p>
          <a:p>
            <a:pPr>
              <a:defRPr/>
            </a:pPr>
            <a:r>
              <a:rPr/>
              <a:t>Why MRI is useful for analysis of brain tumors</a:t>
            </a:r>
            <a:endParaRPr/>
          </a:p>
          <a:p>
            <a:pPr>
              <a:defRPr/>
            </a:pPr>
            <a:r>
              <a:rPr/>
              <a:t>Types of brain tumors</a:t>
            </a:r>
            <a:endParaRPr/>
          </a:p>
          <a:p>
            <a:pPr>
              <a:defRPr/>
            </a:pPr>
            <a:r>
              <a:rPr/>
              <a:t>MRI Dataset</a:t>
            </a:r>
            <a:endParaRPr/>
          </a:p>
          <a:p>
            <a:pPr lvl="1">
              <a:defRPr/>
            </a:pPr>
            <a:r>
              <a:rPr/>
              <a:t>Download</a:t>
            </a:r>
            <a:endParaRPr/>
          </a:p>
          <a:p>
            <a:pPr lvl="0">
              <a:defRPr/>
            </a:pPr>
            <a:r>
              <a:rPr/>
              <a:t>Software Download</a:t>
            </a:r>
            <a:endParaRPr/>
          </a:p>
          <a:p>
            <a:pPr lvl="1">
              <a:defRPr/>
            </a:pPr>
            <a:r>
              <a:rPr/>
              <a:t>Python (Spyder IDE)</a:t>
            </a:r>
            <a:endParaRPr/>
          </a:p>
          <a:p>
            <a:pPr lvl="1">
              <a:defRPr/>
            </a:pPr>
            <a:r>
              <a:rPr/>
              <a:t>CV2 and other libraries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3206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Exploratory Data Analysis (EDA)</a:t>
            </a:r>
            <a:endParaRPr/>
          </a:p>
        </p:txBody>
      </p:sp>
      <p:sp>
        <p:nvSpPr>
          <p:cNvPr id="19503692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EDA is useful in all data modeling tasks</a:t>
            </a:r>
            <a:endParaRPr/>
          </a:p>
          <a:p>
            <a:pPr>
              <a:defRPr/>
            </a:pPr>
            <a:r>
              <a:rPr/>
              <a:t>Explore data without any quantitative/modeling analysis</a:t>
            </a:r>
            <a:endParaRPr/>
          </a:p>
          <a:p>
            <a:pPr>
              <a:defRPr/>
            </a:pPr>
            <a:r>
              <a:rPr/>
              <a:t>Focus on understanding data</a:t>
            </a:r>
            <a:endParaRPr/>
          </a:p>
          <a:p>
            <a:pPr lvl="1">
              <a:defRPr/>
            </a:pPr>
            <a:r>
              <a:rPr/>
              <a:t>File structure</a:t>
            </a:r>
            <a:endParaRPr/>
          </a:p>
          <a:p>
            <a:pPr lvl="1">
              <a:defRPr/>
            </a:pPr>
            <a:r>
              <a:rPr/>
              <a:t>What data do we have</a:t>
            </a:r>
            <a:endParaRPr/>
          </a:p>
          <a:p>
            <a:pPr lvl="1">
              <a:defRPr/>
            </a:pPr>
            <a:r>
              <a:rPr/>
              <a:t>Use Figures and Charts</a:t>
            </a:r>
            <a:endParaRPr/>
          </a:p>
          <a:p>
            <a:pPr lvl="2">
              <a:defRPr/>
            </a:pPr>
            <a:r>
              <a:rPr/>
              <a:t>Visual inspection</a:t>
            </a:r>
            <a:endParaRPr/>
          </a:p>
          <a:p>
            <a:pPr lvl="2">
              <a:defRPr/>
            </a:pPr>
            <a:r>
              <a:rPr/>
              <a:t>Histograms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637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274638"/>
            <a:ext cx="10972800" cy="61978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>
                <a:solidFill>
                  <a:srgbClr val="FF0000"/>
                </a:solidFill>
              </a:rPr>
              <a:t>EDA</a:t>
            </a:r>
            <a:endParaRPr/>
          </a:p>
        </p:txBody>
      </p:sp>
      <p:pic>
        <p:nvPicPr>
          <p:cNvPr id="4854490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00002" y="1475212"/>
            <a:ext cx="7541421" cy="4983201"/>
          </a:xfrm>
          <a:prstGeom prst="rect">
            <a:avLst/>
          </a:prstGeom>
        </p:spPr>
      </p:pic>
      <p:sp>
        <p:nvSpPr>
          <p:cNvPr id="580610125" name=""/>
          <p:cNvSpPr txBox="1"/>
          <p:nvPr/>
        </p:nvSpPr>
        <p:spPr bwMode="auto">
          <a:xfrm flipH="0" flipV="0">
            <a:off x="8666615" y="639069"/>
            <a:ext cx="2994610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Thresholding</a:t>
            </a:r>
            <a:endParaRPr/>
          </a:p>
          <a:p>
            <a:pPr>
              <a:defRPr/>
            </a:pPr>
            <a:r>
              <a:rPr/>
              <a:t>Global HIstogram Equalization</a:t>
            </a:r>
            <a:endParaRPr/>
          </a:p>
          <a:p>
            <a:pPr>
              <a:defRPr/>
            </a:pPr>
            <a:r>
              <a:rPr/>
              <a:t>Local Equalization - CLAHE- Contrast Limited Adaptive Histogram Equalization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6092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Features</a:t>
            </a:r>
            <a:endParaRPr/>
          </a:p>
        </p:txBody>
      </p:sp>
      <p:pic>
        <p:nvPicPr>
          <p:cNvPr id="1638341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62432" y="1518851"/>
            <a:ext cx="8664768" cy="4614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883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HOG – Histograms of Oriented Gradients</a:t>
            </a:r>
            <a:endParaRPr/>
          </a:p>
        </p:txBody>
      </p:sp>
      <p:pic>
        <p:nvPicPr>
          <p:cNvPr id="15996269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96047" y="2046587"/>
            <a:ext cx="7658100" cy="3857625"/>
          </a:xfrm>
          <a:prstGeom prst="rect">
            <a:avLst/>
          </a:prstGeom>
        </p:spPr>
      </p:pic>
      <p:sp>
        <p:nvSpPr>
          <p:cNvPr id="1689884677" name=""/>
          <p:cNvSpPr txBox="1"/>
          <p:nvPr/>
        </p:nvSpPr>
        <p:spPr bwMode="auto">
          <a:xfrm flipH="0" flipV="0">
            <a:off x="8483716" y="3076317"/>
            <a:ext cx="2849389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AutoNum type="arabicPeriod"/>
              <a:defRPr/>
            </a:pPr>
            <a:r>
              <a:rPr/>
              <a:t> Preprocess</a:t>
            </a:r>
            <a:endParaRPr/>
          </a:p>
          <a:p>
            <a:pPr marL="283879" indent="-283879">
              <a:buAutoNum type="arabicPeriod"/>
              <a:defRPr/>
            </a:pPr>
            <a:r>
              <a:rPr/>
              <a:t>Compute gradient and orientation</a:t>
            </a:r>
            <a:endParaRPr/>
          </a:p>
          <a:p>
            <a:pPr marL="283879" indent="-283879">
              <a:buAutoNum type="arabicPeriod"/>
              <a:defRPr/>
            </a:pPr>
            <a:r>
              <a:rPr/>
              <a:t>Build histogram (9 bins when 0 -180 is dived into 20 degree bins)</a:t>
            </a:r>
            <a:endParaRPr/>
          </a:p>
          <a:p>
            <a:pPr marL="283879" indent="-283879">
              <a:buAutoNum type="arabicPeriod"/>
              <a:defRPr/>
            </a:pPr>
            <a:r>
              <a:rPr/>
              <a:t>Normalize for cross-comparison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455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Gabor Fiters</a:t>
            </a:r>
            <a:endParaRPr/>
          </a:p>
        </p:txBody>
      </p:sp>
      <p:sp>
        <p:nvSpPr>
          <p:cNvPr id="7662604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695066"/>
            <a:ext cx="4411649" cy="54310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/>
              <a:t>Band pass filter</a:t>
            </a:r>
            <a:endParaRPr/>
          </a:p>
          <a:p>
            <a:pPr lvl="1">
              <a:defRPr/>
            </a:pPr>
            <a:r>
              <a:rPr/>
              <a:t>Allows some frequencies but rejects others</a:t>
            </a: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r>
              <a:rPr/>
              <a:t>Combining Sinusoid with Gaussian Filter</a:t>
            </a:r>
            <a:endParaRPr/>
          </a:p>
          <a:p>
            <a:pPr marL="0" lvl="0" indent="0">
              <a:buFont typeface="Arial"/>
              <a:buNone/>
              <a:defRPr/>
            </a:pPr>
            <a:endParaRPr/>
          </a:p>
          <a:p>
            <a:pPr lvl="0">
              <a:defRPr/>
            </a:pPr>
            <a:r>
              <a:rPr/>
              <a:t>Useful for texture and edge detection</a:t>
            </a:r>
            <a:endParaRPr/>
          </a:p>
          <a:p>
            <a:pPr marL="0" lvl="0" indent="0">
              <a:buFont typeface="Arial"/>
              <a:buNone/>
              <a:defRPr/>
            </a:pPr>
            <a:endParaRPr/>
          </a:p>
          <a:p>
            <a:pPr lvl="0">
              <a:defRPr/>
            </a:pPr>
            <a:r>
              <a:rPr/>
              <a:t>Use a bank of different orientation to extract all information</a:t>
            </a:r>
            <a:endParaRPr/>
          </a:p>
        </p:txBody>
      </p:sp>
      <p:pic>
        <p:nvPicPr>
          <p:cNvPr id="7984775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49999" y="1417638"/>
            <a:ext cx="4628862" cy="4512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8030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Canny Edges</a:t>
            </a:r>
            <a:endParaRPr/>
          </a:p>
        </p:txBody>
      </p:sp>
      <p:sp>
        <p:nvSpPr>
          <p:cNvPr id="9157273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969491"/>
            <a:ext cx="4720568" cy="1913751"/>
          </a:xfrm>
        </p:spPr>
        <p:txBody>
          <a:bodyPr/>
          <a:lstStyle/>
          <a:p>
            <a:pPr>
              <a:defRPr/>
            </a:pPr>
            <a:r>
              <a:rPr/>
              <a:t>Identification of edges</a:t>
            </a:r>
            <a:endParaRPr/>
          </a:p>
          <a:p>
            <a:pPr lvl="1">
              <a:defRPr/>
            </a:pPr>
            <a:r>
              <a:rPr/>
              <a:t>Sharp discontinuities</a:t>
            </a:r>
            <a:endParaRPr/>
          </a:p>
          <a:p>
            <a:pPr lvl="1">
              <a:defRPr/>
            </a:pPr>
            <a:r>
              <a:rPr/>
              <a:t>Local maxima or minima</a:t>
            </a:r>
            <a:endParaRPr/>
          </a:p>
        </p:txBody>
      </p:sp>
      <p:pic>
        <p:nvPicPr>
          <p:cNvPr id="3699631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0202" y="3102060"/>
            <a:ext cx="5641751" cy="2641514"/>
          </a:xfrm>
          <a:prstGeom prst="rect">
            <a:avLst/>
          </a:prstGeom>
        </p:spPr>
      </p:pic>
      <p:pic>
        <p:nvPicPr>
          <p:cNvPr id="16675128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599155" y="2739209"/>
            <a:ext cx="6191291" cy="3488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5509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Zernikie Moments</a:t>
            </a:r>
            <a:endParaRPr/>
          </a:p>
        </p:txBody>
      </p:sp>
      <p:sp>
        <p:nvSpPr>
          <p:cNvPr id="52302313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7513710" cy="4525962"/>
          </a:xfrm>
        </p:spPr>
        <p:txBody>
          <a:bodyPr/>
          <a:lstStyle/>
          <a:p>
            <a:pPr>
              <a:defRPr/>
            </a:pPr>
            <a:r>
              <a:rPr/>
              <a:t>Used to describe the shape</a:t>
            </a:r>
            <a:endParaRPr/>
          </a:p>
          <a:p>
            <a:pPr>
              <a:defRPr/>
            </a:pPr>
            <a:r>
              <a:rPr/>
              <a:t>Essentially describes the data along multiple orthogonal directions</a:t>
            </a:r>
            <a:endParaRPr/>
          </a:p>
          <a:p>
            <a:pPr lvl="1">
              <a:defRPr/>
            </a:pPr>
            <a:r>
              <a:rPr/>
              <a:t>Information is split without redundancy</a:t>
            </a:r>
            <a:endParaRPr/>
          </a:p>
          <a:p>
            <a:pPr lvl="1">
              <a:defRPr/>
            </a:pPr>
            <a:r>
              <a:rPr/>
              <a:t>Directions are </a:t>
            </a:r>
            <a:r>
              <a:rPr/>
              <a:t>Orthogonal along as disk</a:t>
            </a:r>
            <a:endParaRPr/>
          </a:p>
          <a:p>
            <a:pPr lvl="1">
              <a:defRPr/>
            </a:pPr>
            <a:r>
              <a:rPr/>
              <a:t>Two parameters – Radius (polar coordinates, polynomial degree) and </a:t>
            </a:r>
            <a:endParaRPr/>
          </a:p>
        </p:txBody>
      </p:sp>
      <p:pic>
        <p:nvPicPr>
          <p:cNvPr id="429268336" name=""/>
          <p:cNvPicPr>
            <a:picLocks noChangeAspect="1"/>
          </p:cNvPicPr>
          <p:nvPr/>
        </p:nvPicPr>
        <p:blipFill>
          <a:blip r:embed="rId3"/>
          <a:srcRect l="0" t="0" r="0" b="22347"/>
          <a:stretch/>
        </p:blipFill>
        <p:spPr bwMode="auto">
          <a:xfrm flipH="0" flipV="0">
            <a:off x="8199222" y="2033715"/>
            <a:ext cx="3209924" cy="297334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773549" name="Title 1"/>
          <p:cNvSpPr>
            <a:spLocks noGrp="1"/>
          </p:cNvSpPr>
          <p:nvPr>
            <p:ph type="title"/>
          </p:nvPr>
        </p:nvSpPr>
        <p:spPr bwMode="auto">
          <a:xfrm>
            <a:off x="963082" y="4406900"/>
            <a:ext cx="10363198" cy="1362073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Lecture 2 – Feature reduction</a:t>
            </a:r>
            <a:endParaRPr/>
          </a:p>
        </p:txBody>
      </p:sp>
      <p:sp>
        <p:nvSpPr>
          <p:cNvPr id="19323840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2" y="2906712"/>
            <a:ext cx="10363198" cy="1500185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598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Feature Selection</a:t>
            </a:r>
            <a:endParaRPr/>
          </a:p>
        </p:txBody>
      </p:sp>
      <p:sp>
        <p:nvSpPr>
          <p:cNvPr id="199456778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Our final feature extraction has led to a lot of variables</a:t>
            </a:r>
            <a:endParaRPr/>
          </a:p>
          <a:p>
            <a:pPr lvl="1">
              <a:defRPr/>
            </a:pPr>
            <a:r>
              <a:rPr/>
              <a:t>HOG</a:t>
            </a:r>
            <a:endParaRPr/>
          </a:p>
          <a:p>
            <a:pPr lvl="1">
              <a:defRPr/>
            </a:pPr>
            <a:r>
              <a:rPr/>
              <a:t>Zernkie moments</a:t>
            </a:r>
            <a:endParaRPr/>
          </a:p>
          <a:p>
            <a:pPr lvl="1">
              <a:defRPr/>
            </a:pPr>
            <a:r>
              <a:rPr/>
              <a:t>Gabor Filters</a:t>
            </a:r>
            <a:endParaRPr/>
          </a:p>
          <a:p>
            <a:pPr lvl="1">
              <a:defRPr/>
            </a:pPr>
            <a:r>
              <a:rPr/>
              <a:t>Entropy</a:t>
            </a:r>
            <a:endParaRPr/>
          </a:p>
          <a:p>
            <a:pPr lvl="1">
              <a:defRPr/>
            </a:pPr>
            <a:r>
              <a:rPr/>
              <a:t>Summary Statistics</a:t>
            </a:r>
            <a:endParaRPr/>
          </a:p>
          <a:p>
            <a:pPr lvl="0">
              <a:defRPr/>
            </a:pPr>
            <a:r>
              <a:rPr/>
              <a:t>Not all of them are strongly correlated with tumor characteristics</a:t>
            </a:r>
            <a:endParaRPr/>
          </a:p>
          <a:p>
            <a:pPr lvl="0">
              <a:defRPr/>
            </a:pPr>
            <a:r>
              <a:rPr/>
              <a:t>Many of these are correlated</a:t>
            </a:r>
            <a:endParaRPr/>
          </a:p>
          <a:p>
            <a:pPr lvl="1">
              <a:defRPr/>
            </a:pPr>
            <a:r>
              <a:rPr/>
              <a:t>Contain similar information to a large degree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934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High Dimensional Data</a:t>
            </a:r>
            <a:endParaRPr/>
          </a:p>
        </p:txBody>
      </p:sp>
      <p:sp>
        <p:nvSpPr>
          <p:cNvPr id="358448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Working with high dimensional data is not advisible</a:t>
            </a:r>
            <a:endParaRPr/>
          </a:p>
          <a:p>
            <a:pPr lvl="1">
              <a:defRPr/>
            </a:pPr>
            <a:r>
              <a:rPr/>
              <a:t>Redundancy makes the model difficult to explain</a:t>
            </a:r>
            <a:endParaRPr/>
          </a:p>
          <a:p>
            <a:pPr lvl="1">
              <a:defRPr/>
            </a:pPr>
            <a:r>
              <a:rPr/>
              <a:t>Multicollinearity makes estimation of model coefficients tough</a:t>
            </a:r>
            <a:endParaRPr/>
          </a:p>
          <a:p>
            <a:pPr lvl="1">
              <a:defRPr/>
            </a:pPr>
            <a:r>
              <a:rPr/>
              <a:t>Risk of over-fitting</a:t>
            </a:r>
            <a:endParaRPr/>
          </a:p>
          <a:p>
            <a:pPr lvl="2">
              <a:defRPr/>
            </a:pPr>
            <a:r>
              <a:rPr/>
              <a:t>Memorize the data and not learn how to predict</a:t>
            </a:r>
            <a:endParaRPr/>
          </a:p>
          <a:p>
            <a:pPr marL="914400" lvl="2" indent="0">
              <a:buFont typeface="Arial"/>
              <a:buNone/>
              <a:defRPr/>
            </a:pPr>
            <a:endParaRPr/>
          </a:p>
          <a:p>
            <a:pPr lvl="0">
              <a:defRPr/>
            </a:pPr>
            <a:r>
              <a:rPr/>
              <a:t>We therefore want to reduce the data dimension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686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Dimension Reduction</a:t>
            </a:r>
            <a:endParaRPr/>
          </a:p>
        </p:txBody>
      </p:sp>
      <p:sp>
        <p:nvSpPr>
          <p:cNvPr id="2784007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There are two approaches</a:t>
            </a:r>
            <a:endParaRPr/>
          </a:p>
          <a:p>
            <a:pPr lvl="1">
              <a:defRPr/>
            </a:pPr>
            <a:r>
              <a:rPr/>
              <a:t>Aggregate the data in higher dimension to lower dimensions</a:t>
            </a:r>
            <a:endParaRPr/>
          </a:p>
          <a:p>
            <a:pPr lvl="2">
              <a:defRPr/>
            </a:pPr>
            <a:r>
              <a:rPr/>
              <a:t>Groupings of variables</a:t>
            </a:r>
            <a:endParaRPr/>
          </a:p>
          <a:p>
            <a:pPr marL="914400" lvl="2" indent="0">
              <a:buFont typeface="Arial"/>
              <a:buNone/>
              <a:defRPr/>
            </a:pPr>
            <a:endParaRPr/>
          </a:p>
          <a:p>
            <a:pPr lvl="1">
              <a:defRPr/>
            </a:pPr>
            <a:r>
              <a:rPr/>
              <a:t>Eliminate those variables that are redundant</a:t>
            </a:r>
            <a:endParaRPr/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/>
              <a:t>Keep those variables that correlate strongly with the output</a:t>
            </a:r>
            <a:endParaRPr/>
          </a:p>
        </p:txBody>
      </p:sp>
      <p:sp>
        <p:nvSpPr>
          <p:cNvPr id="1486381848" name=""/>
          <p:cNvSpPr txBox="1"/>
          <p:nvPr/>
        </p:nvSpPr>
        <p:spPr bwMode="auto">
          <a:xfrm rot="0" flipH="0" flipV="0">
            <a:off x="5770821" y="6490607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9112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mRMR</a:t>
            </a:r>
            <a:endParaRPr/>
          </a:p>
        </p:txBody>
      </p:sp>
      <p:sp>
        <p:nvSpPr>
          <p:cNvPr id="10629718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Minimum Redundancy Maximum Relevance</a:t>
            </a:r>
            <a:endParaRPr/>
          </a:p>
          <a:p>
            <a:pPr lvl="1">
              <a:defRPr/>
            </a:pPr>
            <a:r>
              <a:rPr/>
              <a:t>Have high relevance to the target (tumor)</a:t>
            </a:r>
            <a:endParaRPr/>
          </a:p>
          <a:p>
            <a:pPr lvl="1">
              <a:defRPr/>
            </a:pPr>
            <a:r>
              <a:rPr/>
              <a:t>Have low redundancy with other inputs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lvl="0">
              <a:defRPr/>
            </a:pPr>
            <a:r>
              <a:rPr/>
              <a:t>Balances redundancy and relevance to pick the inputs</a:t>
            </a:r>
            <a:endParaRPr/>
          </a:p>
          <a:p>
            <a:pPr marL="0" lvl="0" indent="0">
              <a:buFont typeface="Arial"/>
              <a:buNone/>
              <a:defRPr/>
            </a:pPr>
            <a:endParaRPr/>
          </a:p>
          <a:p>
            <a:pPr lvl="0">
              <a:defRPr/>
            </a:pPr>
            <a:r>
              <a:rPr/>
              <a:t>Use the idea of Joint entropy</a:t>
            </a:r>
            <a:endParaRPr/>
          </a:p>
          <a:p>
            <a:pPr lvl="1">
              <a:defRPr/>
            </a:pPr>
            <a:r>
              <a:rPr/>
              <a:t>Mutual Information Criteria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9721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Entropy</a:t>
            </a:r>
            <a:endParaRPr/>
          </a:p>
        </p:txBody>
      </p:sp>
      <p:sp>
        <p:nvSpPr>
          <p:cNvPr id="20182043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Quantifies the uncertainty or randomness in a random variable X</a:t>
            </a:r>
            <a:endParaRPr/>
          </a:p>
          <a:p>
            <a:pPr>
              <a:defRPr/>
            </a:pPr>
            <a:r>
              <a:rPr/>
              <a:t>For discrete variables with possible values x and probability p(x) we can write</a:t>
            </a:r>
            <a:endParaRPr/>
          </a:p>
        </p:txBody>
      </p:sp>
      <p:pic>
        <p:nvPicPr>
          <p:cNvPr id="17023450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5035" y="3932463"/>
            <a:ext cx="5570924" cy="1088571"/>
          </a:xfrm>
          <a:prstGeom prst="rect">
            <a:avLst/>
          </a:prstGeom>
        </p:spPr>
      </p:pic>
      <p:sp>
        <p:nvSpPr>
          <p:cNvPr id="1798178970" name=""/>
          <p:cNvSpPr txBox="1"/>
          <p:nvPr/>
        </p:nvSpPr>
        <p:spPr bwMode="auto">
          <a:xfrm rot="0" flipH="0" flipV="0">
            <a:off x="981106" y="5510892"/>
            <a:ext cx="1017648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Higher Entropy —&gt; More uncertainty or disorder in the data</a:t>
            </a:r>
            <a:endParaRPr/>
          </a:p>
        </p:txBody>
      </p:sp>
      <p:sp>
        <p:nvSpPr>
          <p:cNvPr id="873180074" name=""/>
          <p:cNvSpPr txBox="1"/>
          <p:nvPr/>
        </p:nvSpPr>
        <p:spPr bwMode="auto">
          <a:xfrm rot="0" flipH="0" flipV="0">
            <a:off x="361261" y="6340928"/>
            <a:ext cx="1141689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solidFill>
                  <a:srgbClr val="FF0000"/>
                </a:solidFill>
              </a:rPr>
              <a:t>A Fair coin toss has more entropy than the biased coin toss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9400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Joint Entropy</a:t>
            </a:r>
            <a:endParaRPr/>
          </a:p>
        </p:txBody>
      </p:sp>
      <p:sp>
        <p:nvSpPr>
          <p:cNvPr id="13342740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 uncertainty of information content associated with two random variables X and Y</a:t>
            </a:r>
            <a:endParaRPr/>
          </a:p>
          <a:p>
            <a:pPr>
              <a:defRPr/>
            </a:pPr>
            <a:r>
              <a:rPr/>
              <a:t>Measure of uncertainty when both X and Y are considered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 </a:t>
            </a:r>
            <a:endParaRPr/>
          </a:p>
        </p:txBody>
      </p:sp>
      <p:pic>
        <p:nvPicPr>
          <p:cNvPr id="1165735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57250" y="3863180"/>
            <a:ext cx="6196359" cy="1511639"/>
          </a:xfrm>
          <a:prstGeom prst="rect">
            <a:avLst/>
          </a:prstGeom>
        </p:spPr>
      </p:pic>
      <p:sp>
        <p:nvSpPr>
          <p:cNvPr id="1995312834" name=""/>
          <p:cNvSpPr txBox="1"/>
          <p:nvPr/>
        </p:nvSpPr>
        <p:spPr bwMode="auto">
          <a:xfrm rot="0" flipH="0" flipV="0">
            <a:off x="7839106" y="4122964"/>
            <a:ext cx="301013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Based on joint probabilities between X and 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3821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Conditional Entropy</a:t>
            </a:r>
            <a:endParaRPr/>
          </a:p>
        </p:txBody>
      </p:sp>
      <p:sp>
        <p:nvSpPr>
          <p:cNvPr id="10845074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Amount of uncertainty remaining about random variable Y when another random variable X is known</a:t>
            </a:r>
            <a:endParaRPr/>
          </a:p>
          <a:p>
            <a:pPr lvl="1">
              <a:defRPr/>
            </a:pPr>
            <a:r>
              <a:rPr/>
              <a:t>If uncorrelated then all uncertainty remains</a:t>
            </a:r>
            <a:endParaRPr/>
          </a:p>
        </p:txBody>
      </p:sp>
      <p:pic>
        <p:nvPicPr>
          <p:cNvPr id="2944104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642" y="3429000"/>
            <a:ext cx="7842960" cy="1251856"/>
          </a:xfrm>
          <a:prstGeom prst="rect">
            <a:avLst/>
          </a:prstGeom>
        </p:spPr>
      </p:pic>
      <p:sp>
        <p:nvSpPr>
          <p:cNvPr id="544869547" name=""/>
          <p:cNvSpPr txBox="1"/>
          <p:nvPr/>
        </p:nvSpPr>
        <p:spPr bwMode="auto">
          <a:xfrm rot="0" flipH="0" flipV="0">
            <a:off x="462642" y="4987654"/>
            <a:ext cx="379711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Based on conditional probability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37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Relationships</a:t>
            </a:r>
            <a:endParaRPr/>
          </a:p>
        </p:txBody>
      </p:sp>
      <p:pic>
        <p:nvPicPr>
          <p:cNvPr id="1605719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43642" y="1537606"/>
            <a:ext cx="7535776" cy="1129392"/>
          </a:xfrm>
          <a:prstGeom prst="rect">
            <a:avLst/>
          </a:prstGeom>
        </p:spPr>
      </p:pic>
      <p:pic>
        <p:nvPicPr>
          <p:cNvPr id="69681655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25284" y="3728356"/>
            <a:ext cx="7768962" cy="1306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7164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Mutual Information</a:t>
            </a:r>
            <a:endParaRPr/>
          </a:p>
        </p:txBody>
      </p:sp>
      <p:sp>
        <p:nvSpPr>
          <p:cNvPr id="17932797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0631293" cy="4525961"/>
          </a:xfrm>
        </p:spPr>
        <p:txBody>
          <a:bodyPr/>
          <a:lstStyle/>
          <a:p>
            <a:pPr>
              <a:defRPr/>
            </a:pPr>
            <a:r>
              <a:rPr/>
              <a:t>Mutual information is a measure of amount of information shared between two random variables</a:t>
            </a:r>
            <a:endParaRPr/>
          </a:p>
          <a:p>
            <a:pPr lvl="1">
              <a:defRPr/>
            </a:pPr>
            <a:r>
              <a:rPr/>
              <a:t>MI = 0 means X and Y are independent</a:t>
            </a:r>
            <a:endParaRPr/>
          </a:p>
          <a:p>
            <a:pPr lvl="1">
              <a:defRPr/>
            </a:pPr>
            <a:r>
              <a:rPr/>
              <a:t>MI = 1 means X and Y are one and the same</a:t>
            </a:r>
            <a:endParaRPr/>
          </a:p>
          <a:p>
            <a:pPr lvl="1">
              <a:defRPr/>
            </a:pPr>
            <a:r>
              <a:rPr/>
              <a:t>Higher MI —&gt; Knowing X improves knowledge of Y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3737798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48991" y="4204607"/>
            <a:ext cx="6210299" cy="2381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4194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mRMR Strategy</a:t>
            </a:r>
            <a:endParaRPr/>
          </a:p>
        </p:txBody>
      </p:sp>
      <p:sp>
        <p:nvSpPr>
          <p:cNvPr id="20891123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Computes mutual information between the variables (X) and the output (Y)</a:t>
            </a:r>
            <a:endParaRPr/>
          </a:p>
          <a:p>
            <a:pPr lvl="1">
              <a:defRPr/>
            </a:pPr>
            <a:r>
              <a:rPr/>
              <a:t>Retains those that have high mutual information</a:t>
            </a:r>
            <a:endParaRPr/>
          </a:p>
          <a:p>
            <a:pPr lvl="0">
              <a:defRPr/>
            </a:pPr>
            <a:r>
              <a:rPr/>
              <a:t>Computes mututal information between different X variables</a:t>
            </a:r>
            <a:endParaRPr/>
          </a:p>
          <a:p>
            <a:pPr lvl="1">
              <a:defRPr/>
            </a:pPr>
            <a:r>
              <a:rPr/>
              <a:t>Eliminate those that have high MI</a:t>
            </a:r>
            <a:endParaRPr/>
          </a:p>
          <a:p>
            <a:pPr lvl="2">
              <a:defRPr/>
            </a:pPr>
            <a:r>
              <a:rPr/>
              <a:t>Drop those that are correlated with multiple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662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mRMR</a:t>
            </a:r>
            <a:endParaRPr/>
          </a:p>
        </p:txBody>
      </p:sp>
      <p:sp>
        <p:nvSpPr>
          <p:cNvPr id="173768789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Pros</a:t>
            </a:r>
            <a:endParaRPr/>
          </a:p>
          <a:p>
            <a:pPr lvl="1">
              <a:defRPr/>
            </a:pPr>
            <a:r>
              <a:rPr/>
              <a:t>Fast and efficient</a:t>
            </a:r>
            <a:endParaRPr/>
          </a:p>
          <a:p>
            <a:pPr lvl="1">
              <a:defRPr/>
            </a:pPr>
            <a:r>
              <a:rPr/>
              <a:t>Handles high dimensional data</a:t>
            </a:r>
            <a:endParaRPr/>
          </a:p>
          <a:p>
            <a:pPr lvl="1">
              <a:defRPr/>
            </a:pPr>
            <a:r>
              <a:rPr/>
              <a:t>Works well with discretized features</a:t>
            </a:r>
            <a:endParaRPr/>
          </a:p>
          <a:p>
            <a:pPr lvl="0">
              <a:defRPr/>
            </a:pPr>
            <a:r>
              <a:rPr/>
              <a:t>Cons</a:t>
            </a:r>
            <a:endParaRPr/>
          </a:p>
          <a:p>
            <a:pPr lvl="1">
              <a:defRPr/>
            </a:pPr>
            <a:r>
              <a:rPr/>
              <a:t>Requires binning of data</a:t>
            </a:r>
            <a:endParaRPr/>
          </a:p>
          <a:p>
            <a:pPr lvl="1">
              <a:defRPr/>
            </a:pPr>
            <a:r>
              <a:rPr/>
              <a:t>May not find globally optimal subset</a:t>
            </a:r>
            <a:endParaRPr/>
          </a:p>
          <a:p>
            <a:pPr lvl="1">
              <a:defRPr/>
            </a:pPr>
            <a:r>
              <a:rPr/>
              <a:t>Feature interactions may be useful in modeling but not considered</a:t>
            </a:r>
            <a:endParaRPr/>
          </a:p>
          <a:p>
            <a:pPr lvl="2">
              <a:defRPr/>
            </a:pPr>
            <a:r>
              <a:rPr/>
              <a:t>X1 and X2 are strongly correlated so X1 is removed but X1X2 (product) is very strongly correlated with Y (not considered)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6071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Dimensionality Reduction</a:t>
            </a:r>
            <a:endParaRPr/>
          </a:p>
        </p:txBody>
      </p:sp>
      <p:sp>
        <p:nvSpPr>
          <p:cNvPr id="4238380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Transform high dimensional data to lower dimensional space</a:t>
            </a:r>
            <a:endParaRPr/>
          </a:p>
          <a:p>
            <a:pPr>
              <a:defRPr/>
            </a:pPr>
            <a:r>
              <a:rPr/>
              <a:t>Preserve meaningful structure</a:t>
            </a:r>
            <a:endParaRPr/>
          </a:p>
          <a:p>
            <a:pPr>
              <a:defRPr/>
            </a:pPr>
            <a:r>
              <a:rPr/>
              <a:t>Explain a vast majority of variance in this data</a:t>
            </a:r>
            <a:endParaRPr/>
          </a:p>
          <a:p>
            <a:pPr>
              <a:defRPr/>
            </a:pPr>
            <a:r>
              <a:rPr/>
              <a:t>Many techniques</a:t>
            </a:r>
            <a:endParaRPr/>
          </a:p>
          <a:p>
            <a:pPr lvl="1">
              <a:defRPr/>
            </a:pPr>
            <a:r>
              <a:rPr/>
              <a:t>PCA – Principle Component Analysis (Linear)</a:t>
            </a:r>
            <a:endParaRPr/>
          </a:p>
          <a:p>
            <a:pPr lvl="1">
              <a:defRPr/>
            </a:pPr>
            <a:r>
              <a:rPr/>
              <a:t>PaCMAP - Nonlinear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331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PaCMAP</a:t>
            </a:r>
            <a:endParaRPr/>
          </a:p>
        </p:txBody>
      </p:sp>
      <p:sp>
        <p:nvSpPr>
          <p:cNvPr id="19590496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Pairwise controlled Manifold Approximation Projection</a:t>
            </a:r>
            <a:endParaRPr/>
          </a:p>
          <a:p>
            <a:pPr>
              <a:defRPr/>
            </a:pPr>
            <a:r>
              <a:rPr/>
              <a:t>Nonlinear Dimensional Reduction Technique</a:t>
            </a:r>
            <a:endParaRPr/>
          </a:p>
          <a:p>
            <a:pPr>
              <a:defRPr/>
            </a:pPr>
            <a:r>
              <a:rPr/>
              <a:t>Preserve both local and global data structure</a:t>
            </a:r>
            <a:endParaRPr/>
          </a:p>
          <a:p>
            <a:pPr>
              <a:defRPr/>
            </a:pPr>
            <a:r>
              <a:rPr/>
              <a:t>Faster compared to similar algorithms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601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PacMAP principles</a:t>
            </a:r>
            <a:endParaRPr/>
          </a:p>
        </p:txBody>
      </p:sp>
      <p:sp>
        <p:nvSpPr>
          <p:cNvPr id="21153185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PACMAP works on 3 principles when reducing data dimension</a:t>
            </a:r>
            <a:endParaRPr/>
          </a:p>
          <a:p>
            <a:pPr lvl="1">
              <a:defRPr/>
            </a:pPr>
            <a:r>
              <a:rPr/>
              <a:t>Data close to each other in high dimension must also be close in low dimensions</a:t>
            </a:r>
            <a:endParaRPr/>
          </a:p>
          <a:p>
            <a:pPr lvl="1">
              <a:defRPr/>
            </a:pPr>
            <a:r>
              <a:rPr/>
              <a:t>Data with middle lengths must not become too close or too far</a:t>
            </a:r>
            <a:endParaRPr/>
          </a:p>
          <a:p>
            <a:pPr lvl="1">
              <a:defRPr/>
            </a:pPr>
            <a:r>
              <a:rPr/>
              <a:t>Data which are far in high dimensions should stay far in low dimensions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7118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PacMAP</a:t>
            </a:r>
            <a:endParaRPr/>
          </a:p>
        </p:txBody>
      </p:sp>
      <p:sp>
        <p:nvSpPr>
          <p:cNvPr id="12506295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Optimizes low-dimensional embedding using weighted pair-wise distances between points</a:t>
            </a:r>
            <a:endParaRPr/>
          </a:p>
          <a:p>
            <a:pPr>
              <a:defRPr/>
            </a:pPr>
            <a:r>
              <a:rPr/>
              <a:t>Local/global balance controlled by several parameters</a:t>
            </a:r>
            <a:endParaRPr/>
          </a:p>
          <a:p>
            <a:pPr lvl="1">
              <a:defRPr/>
            </a:pPr>
            <a:r>
              <a:rPr/>
              <a:t>KNN —&gt; K nearest Neighbors (local structure)</a:t>
            </a:r>
            <a:endParaRPr/>
          </a:p>
          <a:p>
            <a:pPr lvl="1">
              <a:defRPr/>
            </a:pPr>
            <a:r>
              <a:rPr/>
              <a:t>MN Ratio —&gt; Mid nearest Ratio (global structure)</a:t>
            </a:r>
            <a:endParaRPr/>
          </a:p>
          <a:p>
            <a:pPr lvl="1">
              <a:defRPr/>
            </a:pPr>
            <a:r>
              <a:rPr/>
              <a:t>FP Ratio —&gt; Further Pairs Ratio (avoid redundancy and overlap)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0330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mRMR + PaCMAP workflow</a:t>
            </a:r>
            <a:endParaRPr/>
          </a:p>
        </p:txBody>
      </p:sp>
      <p:sp>
        <p:nvSpPr>
          <p:cNvPr id="4985955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Start with all features ~350</a:t>
            </a:r>
            <a:endParaRPr/>
          </a:p>
          <a:p>
            <a:pPr>
              <a:defRPr/>
            </a:pPr>
            <a:r>
              <a:rPr/>
              <a:t>Use mRMR to select top 50 - 80 (filtering step)</a:t>
            </a:r>
            <a:endParaRPr/>
          </a:p>
          <a:p>
            <a:pPr>
              <a:defRPr/>
            </a:pPr>
            <a:r>
              <a:rPr/>
              <a:t>Apply PaCMAP to reduce dimensionality 7 - 8 dimensions (embedding step)</a:t>
            </a:r>
            <a:endParaRPr/>
          </a:p>
          <a:p>
            <a:pPr>
              <a:defRPr/>
            </a:pPr>
            <a:r>
              <a:rPr/>
              <a:t>The embedders (7 or 8) act as  input for Machine learning Models</a:t>
            </a:r>
            <a:endParaRPr/>
          </a:p>
          <a:p>
            <a:pPr lvl="1">
              <a:defRPr/>
            </a:pPr>
            <a:r>
              <a:rPr/>
              <a:t>Reduced complexity</a:t>
            </a:r>
            <a:endParaRPr/>
          </a:p>
          <a:p>
            <a:pPr lvl="1">
              <a:defRPr/>
            </a:pPr>
            <a:r>
              <a:rPr/>
              <a:t>Interpretable features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2025-08-11T20:17:25Z</dcterms:modified>
</cp:coreProperties>
</file>